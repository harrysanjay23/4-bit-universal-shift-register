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6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1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5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1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5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9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4830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8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5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1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19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>
                <a:solidFill>
                  <a:srgbClr val="EAEEF3"/>
                </a:solidFill>
                <a:latin typeface="Arial"/>
              </a:defRPr>
            </a:pPr>
            <a:r>
              <a:t>Design and Simulation of a 4-Bit Universal Shift Register Using Logic Gates</a:t>
            </a:r>
          </a:p>
          <a:p>
            <a:pPr>
              <a:spcBef>
                <a:spcPts val="1500"/>
              </a:spcBef>
              <a:defRPr sz="1800">
                <a:solidFill>
                  <a:srgbClr val="10B981"/>
                </a:solidFill>
                <a:latin typeface="Arial"/>
              </a:defRPr>
            </a:pPr>
            <a:r>
              <a:t>A Complete Structural Gate-Level Implementation and Verification Framework in Logisim</a:t>
            </a:r>
          </a:p>
        </p:txBody>
      </p:sp>
      <p:pic>
        <p:nvPicPr>
          <p:cNvPr id="5" name="Picture 4" descr="The image depicts a 4-bit Universal Shift Register design, implemented using logic gates, and includes a verification framework in the Logisim software, showcasing the gate-level structure and the digital components Q0 to Q3.&#10;&#10;AI-generated content may be incorrect.">
            <a:extLst>
              <a:ext uri="{FF2B5EF4-FFF2-40B4-BE49-F238E27FC236}">
                <a16:creationId xmlns:a16="http://schemas.microsoft.com/office/drawing/2014/main" id="{47ACDB47-F9E1-F3E6-3352-B1BF84A9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Core Project Goals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Design an fully functional 4-bit Universal Shift Register (USR).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Avoid high-level pre-built macro components inside Logisim.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Implement core operations natively utilizing discrete logic gate structures.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Verify operations dynamically via structural simulation test benches.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Design &amp; Tool Constraints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Simulation Environment: Logisim / Logisim-Evolution layout engine.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Control Structures: Custom built using basic AND, OR, and NOT configurations.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Storage Elements: Exactly four Edge-Triggered D-Flip Flops (D-FF).</a:t>
            </a:r>
          </a:p>
          <a:p>
            <a:pPr>
              <a:spcAft>
                <a:spcPts val="1000"/>
              </a:spcAft>
              <a:defRPr sz="1500">
                <a:solidFill>
                  <a:srgbClr val="1F2A38"/>
                </a:solidFill>
              </a:defRPr>
            </a:pPr>
            <a:r>
              <a:t>• Global Synchronicity: Single synchronized global clock and Master Reset distribution.</a:t>
            </a:r>
          </a:p>
        </p:txBody>
      </p:sp>
      <p:pic>
        <p:nvPicPr>
          <p:cNvPr id="9" name="Picture 8" descr="The image depicts a visual representation of project objectives and technical scope, showcasing various components like design, simulation environment, control structures, and verification methods.&#10;&#10;AI-generated content may be incorrect.">
            <a:extLst>
              <a:ext uri="{FF2B5EF4-FFF2-40B4-BE49-F238E27FC236}">
                <a16:creationId xmlns:a16="http://schemas.microsoft.com/office/drawing/2014/main" id="{5ABEA7EF-5E5D-DD51-ED6C-3D858251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Functional Theory &amp; Mode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8857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2A38"/>
                </a:solidFill>
              </a:defRPr>
            </a:pPr>
            <a:r>
              <a:t>What is a Universal Shift Register?</a:t>
            </a:r>
          </a:p>
          <a:p>
            <a:pPr>
              <a:spcAft>
                <a:spcPts val="1600"/>
              </a:spcAft>
              <a:defRPr sz="1600">
                <a:solidFill>
                  <a:srgbClr val="1F2A38"/>
                </a:solidFill>
              </a:defRPr>
            </a:pPr>
            <a:r>
              <a:t>A Universal Shift Register (USR) is a highly versatile bidirectional sequential logic circuit capable of storing and manipulating data along its register line. It unifies serial-in/parallel-out and parallel-in/serial-out capabilities into a single cohesive chip design.</a:t>
            </a:r>
          </a:p>
          <a:p>
            <a:pPr>
              <a:spcAft>
                <a:spcPts val="1200"/>
              </a:spcAft>
              <a:defRPr sz="1600">
                <a:solidFill>
                  <a:srgbClr val="1F2A38"/>
                </a:solidFill>
              </a:defRPr>
            </a:pPr>
            <a:r>
              <a:t>The system relies on binary select wires (S1, S0) to change the routing behavior of internal steering logic networks on every clock edge:</a:t>
            </a:r>
          </a:p>
          <a:p>
            <a:pPr>
              <a:spcAft>
                <a:spcPts val="800"/>
              </a:spcAft>
              <a:defRPr sz="1500" b="1">
                <a:solidFill>
                  <a:srgbClr val="1F2A38"/>
                </a:solidFill>
              </a:defRPr>
            </a:pPr>
            <a:r>
              <a:t>  ➔ Mode [00] - Lock / Hold State: Data loops internally inside each stage. Memory is fully sustained without alterations.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  ➔ Mode [01] - Shift Right: Bit structures slide from Left to Right (Q3 towards Q0). High-order input handles serial lines.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  ➔ Mode [10] - Shift Left: Bit structures slide from Right to Left (Q0 towards Q3). Low-order input captures incoming strings.</a:t>
            </a:r>
          </a:p>
          <a:p>
            <a:pPr>
              <a:spcAft>
                <a:spcPts val="800"/>
              </a:spcAft>
              <a:defRPr sz="1500" b="1">
                <a:solidFill>
                  <a:srgbClr val="1F2A38"/>
                </a:solidFill>
              </a:defRPr>
            </a:pPr>
            <a:r>
              <a:t>  ➔ Mode [11] - Parallel Load: Overwrites every bit location simultaneously with fresh broadband inputs on a single pulse.</a:t>
            </a:r>
          </a:p>
        </p:txBody>
      </p:sp>
      <p:pic>
        <p:nvPicPr>
          <p:cNvPr id="7" name="Picture 6" descr="The image illustrates a Universal Shift Register (USR) with various modes of operation: Lock/Hold, Shift Right, Shift Left, and Parallel Load, demonstrating how data is routed and stored within the register.&#10;&#10;AI-generated content may be incorrect.">
            <a:extLst>
              <a:ext uri="{FF2B5EF4-FFF2-40B4-BE49-F238E27FC236}">
                <a16:creationId xmlns:a16="http://schemas.microsoft.com/office/drawing/2014/main" id="{A45F8E99-48E0-503D-151A-9ECA7513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System Truth Table &amp; Routing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S1 (Select 1)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S0 (Select 0)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Operation Mode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AEEF3"/>
                          </a:solidFill>
                        </a:defRPr>
                      </a:pPr>
                      <a:r>
                        <a:t>Data Steering Logic Path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Hold / No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  ➔  Dn (Output tracks back to own input)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Shift 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Qn+1  ➔  Dn  (Serial input right hooks into Stage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Shift 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Qn-1  ➔  Dn  (Serial input left hooks into Stage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F2A3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Parallel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A38"/>
                          </a:solidFill>
                        </a:defRPr>
                      </a:pPr>
                      <a:r>
                        <a:t>In  ➔  Dn (All external lines load simultaneously)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The image illustrates a 4-bit Universal Shift Register, depicting its components and operations such as serial shifting, parallel loading, and various control inputs.&#10;&#10;AI-generated content may be incorrect.">
            <a:extLst>
              <a:ext uri="{FF2B5EF4-FFF2-40B4-BE49-F238E27FC236}">
                <a16:creationId xmlns:a16="http://schemas.microsoft.com/office/drawing/2014/main" id="{E3B491A2-92D7-F0F4-C18E-5CF73F3C9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Custom 4x1 Multiplexer Gate-Level Sub-Circuit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Gate-Level Construction Rules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• Built strictly from raw gates inside a custom Logisim sub-circuit named 'MUX_4x1'.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• Uses 2 NOT Gates to compute the inverse selections (S1' and S0').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• Uses 4 Three-Input AND Gates to sample the data options (Y0, Y1, Y2, Y3).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• Uses 1 Four-Input OR Gate to collect all decoded paths into a single output terminal.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11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SOP Boolean Expression</a:t>
            </a:r>
          </a:p>
          <a:p>
            <a:pPr>
              <a:spcAft>
                <a:spcPts val="2000"/>
              </a:spcAft>
              <a:defRPr sz="1500">
                <a:solidFill>
                  <a:srgbClr val="EAEEF3"/>
                </a:solidFill>
              </a:defRPr>
            </a:pPr>
            <a:r>
              <a:t>The Sum-of-Products (SOP) logic formula wired inside the sub-circuit is:</a:t>
            </a:r>
          </a:p>
          <a:p>
            <a:pPr>
              <a:spcAft>
                <a:spcPts val="2000"/>
              </a:spcAft>
              <a:defRPr sz="2200" b="1">
                <a:solidFill>
                  <a:srgbClr val="38BDF8"/>
                </a:solidFill>
                <a:latin typeface="Courier New"/>
              </a:defRPr>
            </a:pPr>
            <a:r>
              <a:t>Out = (Y0 · S1' · S0') +</a:t>
            </a:r>
            <a:br/>
            <a:r>
              <a:t>         (Y1 · S1' · S0) +</a:t>
            </a:r>
            <a:br/>
            <a:r>
              <a:t>         (Y2 · S1 · S0') +</a:t>
            </a:r>
            <a:br/>
            <a:r>
              <a:t>         (Y3 · S1 · S0)</a:t>
            </a:r>
          </a:p>
        </p:txBody>
      </p:sp>
      <p:pic>
        <p:nvPicPr>
          <p:cNvPr id="9" name="Picture 8" descr="A diagram illustrating the gate-level construction of a 4x1 multiplexer using NOT, AND, and OR gates, with SOP logic and customized sub-circuit components.&#10;&#10;AI-generated content may be incorrect.">
            <a:extLst>
              <a:ext uri="{FF2B5EF4-FFF2-40B4-BE49-F238E27FC236}">
                <a16:creationId xmlns:a16="http://schemas.microsoft.com/office/drawing/2014/main" id="{847439D1-1CB4-AD6A-839D-140C8312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Logisim Simulation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88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2A38"/>
                </a:solidFill>
              </a:defRPr>
            </a:pPr>
            <a:r>
              <a:t>Inter-Stage Signal Routing Grid</a:t>
            </a:r>
          </a:p>
          <a:p>
            <a:pPr>
              <a:spcAft>
                <a:spcPts val="1400"/>
              </a:spcAft>
              <a:defRPr sz="1400">
                <a:solidFill>
                  <a:srgbClr val="1F2A38"/>
                </a:solidFill>
                <a:latin typeface="Courier New"/>
              </a:defRPr>
            </a:pPr>
            <a:r>
              <a:t>Stage 3 (Most Significant Bit - MSB):</a:t>
            </a:r>
            <a:br/>
            <a:r>
              <a:t>  Y0 = Q3 (Hold)  |  Y1 = Serial_In_Right  |  Y2 = Q2 (From Right)  |  Y3 = I3 (Parallel)</a:t>
            </a:r>
          </a:p>
          <a:p>
            <a:pPr>
              <a:spcAft>
                <a:spcPts val="1400"/>
              </a:spcAft>
              <a:defRPr sz="1400">
                <a:solidFill>
                  <a:srgbClr val="1F2A38"/>
                </a:solidFill>
                <a:latin typeface="Courier New"/>
              </a:defRPr>
            </a:pPr>
            <a:r>
              <a:t>Stage 2 (Internal Data Bit):</a:t>
            </a:r>
            <a:br/>
            <a:r>
              <a:t>  Y0 = Q2 (Hold)  |  Y1 = Q3 (From Left)       |  Y2 = Q1 (From Right)  |  Y3 = I2 (Parallel)</a:t>
            </a:r>
          </a:p>
          <a:p>
            <a:pPr>
              <a:spcAft>
                <a:spcPts val="1400"/>
              </a:spcAft>
              <a:defRPr sz="1400">
                <a:solidFill>
                  <a:srgbClr val="1F2A38"/>
                </a:solidFill>
                <a:latin typeface="Courier New"/>
              </a:defRPr>
            </a:pPr>
            <a:r>
              <a:t>Stage 1 (Internal Data Bit):</a:t>
            </a:r>
            <a:br/>
            <a:r>
              <a:t>  Y0 = Q1 (Hold)  |  Y1 = Q2 (From Left)       |  Y2 = Q0 (From Right)  |  Y3 = I1 (Parallel)</a:t>
            </a:r>
          </a:p>
          <a:p>
            <a:pPr>
              <a:spcAft>
                <a:spcPts val="1400"/>
              </a:spcAft>
              <a:defRPr sz="1400">
                <a:solidFill>
                  <a:srgbClr val="1F2A38"/>
                </a:solidFill>
                <a:latin typeface="Courier New"/>
              </a:defRPr>
            </a:pPr>
            <a:r>
              <a:t>Stage 0 (Least Significant Bit - LSB):</a:t>
            </a:r>
            <a:br/>
            <a:r>
              <a:t>  Y0 = Q0 (Hold)  |  Y1 = Q1 (From Left)       |  Y2 = Serial_In_Left   |  Y3 = I0 (Parallel)</a:t>
            </a:r>
          </a:p>
        </p:txBody>
      </p:sp>
      <p:pic>
        <p:nvPicPr>
          <p:cNvPr id="7" name="Picture 6" descr="The image depicts a Logisim simulation workflow diagram for an inter-stage signal routing grid, illustrating the connection of various stages and data bits through logic gates.&#10;&#10;AI-generated content may be incorrect.">
            <a:extLst>
              <a:ext uri="{FF2B5EF4-FFF2-40B4-BE49-F238E27FC236}">
                <a16:creationId xmlns:a16="http://schemas.microsoft.com/office/drawing/2014/main" id="{652C06E2-71E4-1508-6F7B-3566BBA03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Logisim Tool Setup &amp; Step-by-Step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1. Main Circuit Assembler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Instantiate 4 instances of your custom MUX sub-circuit alongside 4 standard D-Flip Flops from Logisim's 'Memory' library tree. Wire the MUX outputs directly to the D-inputs.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2. Control Routing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Tie the Clock inputs of all 4 flip-flops together to a single global Clock item. Join the select wires S1 and S0 of all four MUX blocks together using a unified 2-bit Input Switch element.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92024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F2A38"/>
                </a:solidFill>
              </a:defRPr>
            </a:pPr>
            <a:r>
              <a:t>3. Interactive Execution</a:t>
            </a:r>
          </a:p>
          <a:p>
            <a:pPr>
              <a:spcAft>
                <a:spcPts val="1000"/>
              </a:spcAft>
              <a:defRPr sz="1400">
                <a:solidFill>
                  <a:srgbClr val="1F2A38"/>
                </a:solidFill>
              </a:defRPr>
            </a:pPr>
            <a:r>
              <a:t>Use Logisim's 'Poke Tool' (Hand Icon) to dynamically alter the values of input pins. Step the system using Ctrl+T (Simulate ➔ Tick Half Cycle) to force register evaluations.</a:t>
            </a:r>
          </a:p>
        </p:txBody>
      </p:sp>
      <p:pic>
        <p:nvPicPr>
          <p:cNvPr id="11" name="Picture 10" descr="The image illustrates a digital circuit's test case, demonstrating the effects of various input combinations on a 4-bit register, showing the expected outputs for shifting operations.&#10;&#10;AI-generated content may be incorrect.">
            <a:extLst>
              <a:ext uri="{FF2B5EF4-FFF2-40B4-BE49-F238E27FC236}">
                <a16:creationId xmlns:a16="http://schemas.microsoft.com/office/drawing/2014/main" id="{88B18302-2EDB-69B9-9754-F4C6FBA1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Example 1: Parallel-In to Serial-Out (PISO)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88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Scenario: Loading Binary Data [1011] and Streaming Out Serially</a:t>
            </a:r>
          </a:p>
          <a:p>
            <a:pPr>
              <a:spcAft>
                <a:spcPts val="600"/>
              </a:spcAft>
              <a:defRPr sz="1400">
                <a:solidFill>
                  <a:srgbClr val="1F2A38"/>
                </a:solidFill>
              </a:defRPr>
            </a:pPr>
            <a:r>
              <a:t>Step 1 (Parallel Load): Set Selection pins S1, S0 = 11. Hook up external values I3=1, I2=0, I1=1, I0=1. Cycle the clock line once. The system memory immediately registers Q3, Q2, Q1, Q0 = 1011.</a:t>
            </a:r>
          </a:p>
          <a:p>
            <a:pPr>
              <a:spcAft>
                <a:spcPts val="600"/>
              </a:spcAft>
              <a:defRPr sz="1400">
                <a:solidFill>
                  <a:srgbClr val="1F2A38"/>
                </a:solidFill>
              </a:defRPr>
            </a:pPr>
            <a:r>
              <a:t>Step 2 (Initialize Streaming): Toggle Select switches S1, S0 to 01 (Shift Right Mode). Tie the Serial_In_Right line to a constant logic '0'. The LSB output node (Q0) is our serial streaming out tap point.</a:t>
            </a:r>
          </a:p>
          <a:p>
            <a:pPr>
              <a:spcAft>
                <a:spcPts val="600"/>
              </a:spcAft>
              <a:defRPr sz="1400">
                <a:solidFill>
                  <a:srgbClr val="1F2A38"/>
                </a:solidFill>
              </a:defRPr>
            </a:pPr>
            <a:r>
              <a:t>Step 3 (Clock Cycle 1): Pulse clock. Value shifts right. Q3 becomes 0. Main registers change to 0101. Q0 pin yields '1'.</a:t>
            </a:r>
          </a:p>
          <a:p>
            <a:pPr>
              <a:spcAft>
                <a:spcPts val="600"/>
              </a:spcAft>
              <a:defRPr sz="1400">
                <a:solidFill>
                  <a:srgbClr val="1F2A38"/>
                </a:solidFill>
              </a:defRPr>
            </a:pPr>
            <a:r>
              <a:t>Step 4 (Clock Cycle 2): Pulse clock. Value shifts right. Q2 becomes 0. Main registers change to 0010. Q0 pin yields '1'.</a:t>
            </a:r>
          </a:p>
          <a:p>
            <a:pPr>
              <a:spcAft>
                <a:spcPts val="600"/>
              </a:spcAft>
              <a:defRPr sz="1400">
                <a:solidFill>
                  <a:srgbClr val="1F2A38"/>
                </a:solidFill>
              </a:defRPr>
            </a:pPr>
            <a:r>
              <a:t>Step 5 (Clock Cycle 3): Pulse clock. Value shifts right. Q1 becomes 0. Main registers change to 0001. Q0 pin yields '0'.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Conclusion: The 4-bit block has been successfully converted into a sequential single-wire stream [1, 1, 0, 1] over time.</a:t>
            </a:r>
          </a:p>
        </p:txBody>
      </p:sp>
      <p:pic>
        <p:nvPicPr>
          <p:cNvPr id="7" name="Picture 6" descr="The image illustrates an example of a Serial-In to Parallel-Out (SIPO) circuit, demonstrating the process of receiving a 4-bit serial data input (1011) and converting it to a parallel output, with each bit being shifted into the register with each clock cycle.&#10;&#10;AI-generated content may be incorrect.">
            <a:extLst>
              <a:ext uri="{FF2B5EF4-FFF2-40B4-BE49-F238E27FC236}">
                <a16:creationId xmlns:a16="http://schemas.microsoft.com/office/drawing/2014/main" id="{DDC70E7A-C68B-34FE-AEBF-D11DF719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9ECCE9-CF04-E20D-69FC-7D6565CCF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56" y="88126"/>
            <a:ext cx="9506795" cy="826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Example 2: Arithmetic Bit Shift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2A38"/>
                </a:solidFill>
              </a:defRPr>
            </a:pPr>
            <a:r>
              <a:t>Multiplication via Shift Left</a:t>
            </a:r>
          </a:p>
          <a:p>
            <a:pPr>
              <a:spcAft>
                <a:spcPts val="1200"/>
              </a:spcAft>
              <a:defRPr sz="1400">
                <a:solidFill>
                  <a:srgbClr val="6B7280"/>
                </a:solidFill>
              </a:defRPr>
            </a:pPr>
            <a:r>
              <a:t>Shifting binary digits to the left by one position mathematically multiplies an unsigned integer base value by 2.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Initial State: Q = 0011 (Decimal 3)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Action: Set S1, S0 = 10, Serial_In_Left = 0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Trigger Clock pulse once.</a:t>
            </a:r>
          </a:p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➔ Result State: Q = 0110 (Decimal 6)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Mathematical Verification: 3 × 2 = 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2A38"/>
                </a:solidFill>
              </a:defRPr>
            </a:pPr>
            <a:r>
              <a:t>Division via Shift Right</a:t>
            </a:r>
          </a:p>
          <a:p>
            <a:pPr>
              <a:spcAft>
                <a:spcPts val="1200"/>
              </a:spcAft>
              <a:defRPr sz="1400">
                <a:solidFill>
                  <a:srgbClr val="6B7280"/>
                </a:solidFill>
              </a:defRPr>
            </a:pPr>
            <a:r>
              <a:t>Shifting binary digits to the right by one position mathematically performs integer division by 2 (truncating remainders).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Initial State: Q = 1100 (Decimal 12)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Action: Set S1, S0 = 01, Serial_In_Right = 0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Trigger Clock pulse once.</a:t>
            </a:r>
          </a:p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➔ Result State: Q = 0110 (Decimal 6)</a:t>
            </a:r>
          </a:p>
          <a:p>
            <a:pPr>
              <a:spcAft>
                <a:spcPts val="600"/>
              </a:spcAft>
              <a:defRPr sz="1400" b="0">
                <a:solidFill>
                  <a:srgbClr val="1F2A38"/>
                </a:solidFill>
              </a:defRPr>
            </a:pPr>
            <a:r>
              <a:t>➔ Mathematical Verification: 12 ÷ 2 = 6.</a:t>
            </a:r>
          </a:p>
        </p:txBody>
      </p:sp>
      <p:pic>
        <p:nvPicPr>
          <p:cNvPr id="9" name="Picture 8" descr="The image illustrates an example of arithmetic bit shift operations, demonstrating multiplication by shifting left and division by shifting right, with initial and result states, and mathematical verification.&#10;&#10;AI-generated content may be incorrect.">
            <a:extLst>
              <a:ext uri="{FF2B5EF4-FFF2-40B4-BE49-F238E27FC236}">
                <a16:creationId xmlns:a16="http://schemas.microsoft.com/office/drawing/2014/main" id="{6FBB8F61-F03A-3EF7-6394-74A38809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2A38"/>
                </a:solidFill>
              </a:defRPr>
            </a:pPr>
            <a:r>
              <a:t>Timing Constraints &amp; Logisim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Logisim Troubleshooting Index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Blue Wires / Oscillation Error</a:t>
            </a:r>
            <a:br/>
            <a:r>
              <a:t> Fix: Ensure select lines S1, S0 are not floating. Verify that the loopback lines on Y0 don't cause illegal race paths.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Red Wires / Short Circuits</a:t>
            </a:r>
            <a:br/>
            <a:r>
              <a:t> Fix: Check that two gate outputs are never tied to the same physical wire point line.</a:t>
            </a:r>
          </a:p>
          <a:p>
            <a:pPr>
              <a:spcAft>
                <a:spcPts val="800"/>
              </a:spcAft>
              <a:defRPr sz="1300">
                <a:solidFill>
                  <a:srgbClr val="1F2A38"/>
                </a:solidFill>
              </a:defRPr>
            </a:pPr>
            <a:r>
              <a:t>Problem: Output changes without Clock ticks</a:t>
            </a:r>
            <a:br/>
            <a:r>
              <a:t> Fix: Verify that your asynchronous Reset pin is set high (Logic 1) during common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11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Hardware Performance Limits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Setup Time (Tsu): Incoming data signals at MUX terminals must stabilize before the rising clock edge hits.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Hold Time (Th): Data lines must remain rock solid after the clock transition to prevent flip-flop instability.</a:t>
            </a:r>
          </a:p>
          <a:p>
            <a:pPr>
              <a:spcAft>
                <a:spcPts val="1000"/>
              </a:spcAft>
              <a:defRPr sz="1300">
                <a:solidFill>
                  <a:srgbClr val="EAEEF3"/>
                </a:solidFill>
              </a:defRPr>
            </a:pPr>
            <a:r>
              <a:t>• Propagation Delay (Tpd): Accumulation of gate delays across NOT ➔ AND ➔ OR networks limits the maximum clock frequency (Fmax) of the overall register circuit assembly.</a:t>
            </a:r>
          </a:p>
        </p:txBody>
      </p:sp>
      <p:pic>
        <p:nvPicPr>
          <p:cNvPr id="9" name="Picture 8" descr="The image provides a troubleshooting guide for common issues in Logisim simulations, including hardware performance limits, timing constraints, and solutions for problems such as floating inputs, short circuits, and propagation delays.&#10;&#10;AI-generated content may be incorrect.">
            <a:extLst>
              <a:ext uri="{FF2B5EF4-FFF2-40B4-BE49-F238E27FC236}">
                <a16:creationId xmlns:a16="http://schemas.microsoft.com/office/drawing/2014/main" id="{0D9E1416-0C8D-3DCD-5ACB-F82C206FA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97133-57CD-4BEB-A810-4426C338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50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1388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Harry Sanjay Yendluri</cp:lastModifiedBy>
  <cp:revision>4</cp:revision>
  <dcterms:created xsi:type="dcterms:W3CDTF">2013-01-27T09:14:16Z</dcterms:created>
  <dcterms:modified xsi:type="dcterms:W3CDTF">2026-09-21T05:52:44Z</dcterms:modified>
  <cp:category/>
</cp:coreProperties>
</file>